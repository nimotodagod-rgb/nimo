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12193588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7C671A8-E2F3-409B-BBD8-AA63ADAEF09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l"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ptos Display"/>
              </a:defRPr>
            </a:lvl1pPr>
          </a:lstStyle>
          <a:p>
            <a:pPr indent="0" algn="l"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ptos Display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ptos Display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838080" y="1825200"/>
            <a:ext cx="10515600" cy="43513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>
            <a:lvl1pPr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ptos"/>
              </a:defRPr>
            </a:lvl1pPr>
            <a:lvl2pPr lvl="1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ptos"/>
              </a:defRPr>
            </a:lvl2pPr>
            <a:lvl3pPr lvl="2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ptos"/>
              </a:defRPr>
            </a:lvl3pPr>
            <a:lvl4pPr lvl="3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ptos"/>
              </a:defRPr>
            </a:lvl4pPr>
            <a:lvl5pPr lvl="4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ptos"/>
              </a:defRPr>
            </a:lvl5pPr>
            <a:lvl6pPr lvl="5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ptos"/>
              </a:defRPr>
            </a:lvl6pPr>
            <a:lvl7pPr lvl="6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ptos"/>
              </a:defRPr>
            </a:lvl7pPr>
          </a:lstStyle>
          <a:p>
            <a:pPr marL="228600" indent="-228600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Click to edit the outline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  <a:p>
            <a:pPr marL="685800" lvl="1" indent="-228600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  <a:p>
            <a:pPr marL="1143000" lvl="2" indent="-228600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Third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  <a:p>
            <a:pPr marL="1600200" lvl="3" indent="-228600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Fourth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  <a:p>
            <a:pPr marL="2057400" lvl="4" indent="-228600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Fifth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  <a:p>
            <a:pPr marL="2057400" lvl="5" indent="-228600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Sixth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  <a:p>
            <a:pPr marL="2057400" lvl="6" indent="-228600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Seventh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pt-BR" sz="1200" b="0" u="none" strike="noStrike">
                <a:solidFill>
                  <a:srgbClr val="767676"/>
                </a:solidFill>
                <a:effectLst/>
                <a:uFillTx/>
                <a:latin typeface="Aptos"/>
              </a:defRPr>
            </a:lvl1pPr>
          </a:lstStyle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07316FE5-BA9C-46B8-B9B3-104691A61FAB}" type="datetime">
              <a:rPr lang="pt-BR" sz="1200" b="0" u="none" strike="noStrike">
                <a:solidFill>
                  <a:srgbClr val="767676"/>
                </a:solidFill>
                <a:effectLst/>
                <a:uFillTx/>
                <a:latin typeface="Aptos"/>
              </a:rPr>
              <a:t>27/06/26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80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 anchorCtr="1">
            <a:no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pt-BR" sz="1200" b="0" u="none" strike="noStrike">
                <a:solidFill>
                  <a:srgbClr val="767676"/>
                </a:solidFill>
                <a:effectLst/>
                <a:uFillTx/>
                <a:latin typeface="Aptos"/>
              </a:defRPr>
            </a:lvl1pPr>
          </a:lstStyle>
          <a:p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6F06B794-85D7-4503-8139-38D136BA91C0}" type="slidenum">
              <a:rPr lang="pt-BR" sz="1200" b="0" u="none" strike="noStrike">
                <a:solidFill>
                  <a:srgbClr val="767676"/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995480" y="345960"/>
            <a:ext cx="8207280" cy="703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 anchorCtr="1">
            <a:noAutofit/>
          </a:bodyPr>
          <a:p>
            <a:pPr indent="0" algn="ctr"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de-DE" sz="36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ATENÇÃO ÀS CONFIGURAÇÕES: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ptos Display"/>
            </a:endParaRPr>
          </a:p>
        </p:txBody>
      </p:sp>
      <p:pic>
        <p:nvPicPr>
          <p:cNvPr id="8" name="Subtítulo 2"/>
          <p:cNvPicPr/>
          <p:nvPr/>
        </p:nvPicPr>
        <p:blipFill>
          <a:blip r:embed="rId1"/>
          <a:stretch/>
        </p:blipFill>
        <p:spPr>
          <a:xfrm>
            <a:off x="1401840" y="1609560"/>
            <a:ext cx="9266040" cy="371160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"/>
          <p:cNvPicPr/>
          <p:nvPr/>
        </p:nvPicPr>
        <p:blipFill>
          <a:blip r:embed="rId1"/>
          <a:srcRect l="0" t="0" r="0" b="86668"/>
          <a:stretch/>
        </p:blipFill>
        <p:spPr>
          <a:xfrm>
            <a:off x="73080" y="0"/>
            <a:ext cx="12020400" cy="914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" name="CaixaDeTexto 6"/>
          <p:cNvSpPr/>
          <p:nvPr/>
        </p:nvSpPr>
        <p:spPr>
          <a:xfrm>
            <a:off x="4429080" y="303120"/>
            <a:ext cx="296856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 anchorCtr="1">
            <a:sp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Segoe UI Semibold"/>
                <a:ea typeface="Segoe UI Black"/>
              </a:rPr>
              <a:t>Ações Bem Sucedidas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pic>
        <p:nvPicPr>
          <p:cNvPr id="11" name="CaixaDeTexto 2"/>
          <p:cNvPicPr/>
          <p:nvPr/>
        </p:nvPicPr>
        <p:blipFill>
          <a:blip r:embed="rId2"/>
          <a:stretch/>
        </p:blipFill>
        <p:spPr>
          <a:xfrm>
            <a:off x="6308640" y="115920"/>
            <a:ext cx="4932360" cy="384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" name="CaixaDeTexto 4"/>
          <p:cNvPicPr/>
          <p:nvPr/>
        </p:nvPicPr>
        <p:blipFill>
          <a:blip r:embed="rId3"/>
          <a:stretch/>
        </p:blipFill>
        <p:spPr>
          <a:xfrm>
            <a:off x="6735600" y="360360"/>
            <a:ext cx="4078440" cy="382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" name="Picture 7" descr="Br_Sport.png"/>
          <p:cNvPicPr/>
          <p:nvPr/>
        </p:nvPicPr>
        <p:blipFill>
          <a:blip r:embed="rId4"/>
          <a:stretch/>
        </p:blipFill>
        <p:spPr>
          <a:xfrm>
            <a:off x="1712880" y="42840"/>
            <a:ext cx="1971720" cy="80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" name="CaixaDeTexto 1"/>
          <p:cNvSpPr/>
          <p:nvPr/>
        </p:nvSpPr>
        <p:spPr>
          <a:xfrm>
            <a:off x="390600" y="1328760"/>
            <a:ext cx="11352240" cy="344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marL="800280" lvl="1" indent="-343080">
              <a:lnSpc>
                <a:spcPct val="100000"/>
              </a:lnSpc>
              <a:buClr>
                <a:srgbClr val="000000"/>
              </a:buClr>
              <a:buFont typeface="Times New Roman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VENDAS: ativação de vendas, citar um exemplo de negociação/positivação e qual estratégia de vendas foi utilizada. Showrooms, feiras, ampliação de mix.. (tanto uma ação bem </a:t>
            </a: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ptos"/>
                <a:ea typeface="Calibri"/>
              </a:rPr>
              <a:t>sucedida</a:t>
            </a: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, como qual será a ativação do mês seguinte (ponto de melhoria)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  <a:p>
            <a:pPr marL="800280" lvl="1" indent="-343080">
              <a:lnSpc>
                <a:spcPct val="100000"/>
              </a:lnSpc>
              <a:buClr>
                <a:srgbClr val="000000"/>
              </a:buClr>
              <a:buFont typeface="Times New Roman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  <a:p>
            <a:pPr marL="800280" lvl="1" indent="-343080">
              <a:lnSpc>
                <a:spcPct val="100000"/>
              </a:lnSpc>
              <a:buClr>
                <a:srgbClr val="000000"/>
              </a:buClr>
              <a:buFont typeface="Times New Roman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MKT: Um dos 3 pontos do ERC deve ser ação de marketing, que foi feita mês anterior(ação bem sucedida) e que será feita no mês seguinte (ponto de melhoria), treinamentos, ação de giro, evento da marca, ambiência, vitrines. Descrever dinâmica e resultados.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  <a:p>
            <a:pPr marL="800280" lvl="1" indent="-343080">
              <a:lnSpc>
                <a:spcPct val="100000"/>
              </a:lnSpc>
              <a:buClr>
                <a:srgbClr val="000000"/>
              </a:buClr>
              <a:buFont typeface="Times New Roman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  <a:p>
            <a:pPr marL="800280" lvl="1" indent="-343080">
              <a:lnSpc>
                <a:spcPct val="100000"/>
              </a:lnSpc>
              <a:buClr>
                <a:srgbClr val="000000"/>
              </a:buClr>
              <a:buFont typeface="Times New Roman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CARTEIRA DE CLIENTES: Citar uma ação proposta do </a:t>
            </a:r>
            <a:r>
              <a:rPr lang="pt-BR" sz="2000" b="1" u="sng" strike="noStrik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mapa estratégico </a:t>
            </a: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desenvolvido no Conquistando de Dez/25 (pode ser ação bem sucedida ou ponto de melhoria (clientes foco, clientes com decréscimo, citar quem são..)</a:t>
            </a: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ptos"/>
                <a:ea typeface="Calibri"/>
              </a:rPr>
              <a:t>    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"/>
          <p:cNvPicPr/>
          <p:nvPr/>
        </p:nvPicPr>
        <p:blipFill>
          <a:blip r:embed="rId1"/>
          <a:srcRect l="0" t="0" r="0" b="86668"/>
          <a:stretch/>
        </p:blipFill>
        <p:spPr>
          <a:xfrm>
            <a:off x="73080" y="0"/>
            <a:ext cx="12020400" cy="914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" name="CaixaDeTexto 6"/>
          <p:cNvSpPr/>
          <p:nvPr/>
        </p:nvSpPr>
        <p:spPr>
          <a:xfrm>
            <a:off x="4429080" y="303120"/>
            <a:ext cx="296856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 anchorCtr="1">
            <a:sp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Segoe UI Semibold"/>
                <a:ea typeface="Segoe UI Black"/>
              </a:rPr>
              <a:t>Pontos de Melhoria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pic>
        <p:nvPicPr>
          <p:cNvPr id="17" name="CaixaDeTexto 2"/>
          <p:cNvPicPr/>
          <p:nvPr/>
        </p:nvPicPr>
        <p:blipFill>
          <a:blip r:embed="rId2"/>
          <a:stretch/>
        </p:blipFill>
        <p:spPr>
          <a:xfrm>
            <a:off x="6308640" y="115920"/>
            <a:ext cx="4932360" cy="384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" name="CaixaDeTexto 4"/>
          <p:cNvPicPr/>
          <p:nvPr/>
        </p:nvPicPr>
        <p:blipFill>
          <a:blip r:embed="rId3"/>
          <a:stretch/>
        </p:blipFill>
        <p:spPr>
          <a:xfrm>
            <a:off x="6735600" y="360360"/>
            <a:ext cx="4078440" cy="382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" name="Picture 7" descr="Br_Sport.png"/>
          <p:cNvPicPr/>
          <p:nvPr/>
        </p:nvPicPr>
        <p:blipFill>
          <a:blip r:embed="rId4"/>
          <a:stretch/>
        </p:blipFill>
        <p:spPr>
          <a:xfrm>
            <a:off x="1712880" y="42840"/>
            <a:ext cx="1971720" cy="80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" name="CaixaDeTexto 1"/>
          <p:cNvSpPr/>
          <p:nvPr/>
        </p:nvSpPr>
        <p:spPr>
          <a:xfrm>
            <a:off x="449280" y="1523880"/>
            <a:ext cx="11312640" cy="344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marL="800280" lvl="1" indent="-343080">
              <a:lnSpc>
                <a:spcPct val="100000"/>
              </a:lnSpc>
              <a:buClr>
                <a:srgbClr val="000000"/>
              </a:buClr>
              <a:buFont typeface="Times New Roman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VENDAS: Destacar o </a:t>
            </a:r>
            <a:r>
              <a:rPr lang="pt-BR" sz="2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PONTO DE MELHORIA</a:t>
            </a: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na área de vendas, ativações ou negociações, explicando qual será a ação planejada para o mês seguinte, o objetivo esperado e como essa iniciativa contribuirá para potencializar os resultados.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  <a:p>
            <a:pPr marL="800280" lvl="1" indent="-343080">
              <a:lnSpc>
                <a:spcPct val="100000"/>
              </a:lnSpc>
              <a:buClr>
                <a:srgbClr val="000000"/>
              </a:buClr>
              <a:buFont typeface="Times New Roman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  <a:p>
            <a:pPr marL="800280" lvl="1" indent="-343080">
              <a:lnSpc>
                <a:spcPct val="100000"/>
              </a:lnSpc>
              <a:buClr>
                <a:srgbClr val="000000"/>
              </a:buClr>
              <a:buFont typeface="Times New Roman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MKT: Descrever um </a:t>
            </a:r>
            <a:r>
              <a:rPr lang="pt-BR" sz="2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PONTO DE MELHORIA</a:t>
            </a: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, detalhando a ação que será realizada no mês seguinte, a necessidade que ela pretende atender e o impacto esperado nos resultados.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  <a:p>
            <a:pPr marL="800280" lvl="1" indent="-343080">
              <a:lnSpc>
                <a:spcPct val="100000"/>
              </a:lnSpc>
              <a:buClr>
                <a:srgbClr val="000000"/>
              </a:buClr>
              <a:buFont typeface="Times New Roman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  <a:p>
            <a:pPr marL="800280" lvl="1" indent="-343080">
              <a:lnSpc>
                <a:spcPct val="100000"/>
              </a:lnSpc>
              <a:buClr>
                <a:srgbClr val="000000"/>
              </a:buClr>
              <a:buFont typeface="Times New Roman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CARTEIRA DE CLIENTES: É obrigatório destacar o </a:t>
            </a:r>
            <a:r>
              <a:rPr lang="pt-BR" sz="2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PONTO DE MELHORIA</a:t>
            </a: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, apontando clientes foco, clientes com decréscimo ou oportunidades específicas, identificando quem são e descrevendo a estratégia planejada para recuperação, desenvolvimento ou ampliação dos resultados.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1995480" y="345960"/>
            <a:ext cx="8207280" cy="703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 anchorCtr="1">
            <a:noAutofit/>
          </a:bodyPr>
          <a:p>
            <a:pPr indent="0" algn="ctr"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de-DE" sz="3600" b="0" u="none" strike="noStrike">
                <a:solidFill>
                  <a:srgbClr val="000000"/>
                </a:solidFill>
                <a:effectLst/>
                <a:uFillTx/>
                <a:latin typeface="Aptos Display"/>
              </a:rPr>
              <a:t>CONFIGURAÇÃO DA LEGENDA DA FOTO: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ptos Display"/>
            </a:endParaRPr>
          </a:p>
        </p:txBody>
      </p:sp>
      <p:pic>
        <p:nvPicPr>
          <p:cNvPr id="22" name="Subtítulo 2"/>
          <p:cNvPicPr/>
          <p:nvPr/>
        </p:nvPicPr>
        <p:blipFill>
          <a:blip r:embed="rId1"/>
          <a:stretch/>
        </p:blipFill>
        <p:spPr>
          <a:xfrm>
            <a:off x="1401840" y="1609560"/>
            <a:ext cx="9266040" cy="396900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"/>
          <p:cNvPicPr/>
          <p:nvPr/>
        </p:nvPicPr>
        <p:blipFill>
          <a:blip r:embed="rId1"/>
          <a:srcRect l="0" t="0" r="0" b="86668"/>
          <a:stretch/>
        </p:blipFill>
        <p:spPr>
          <a:xfrm>
            <a:off x="73080" y="0"/>
            <a:ext cx="12020400" cy="914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" name="CaixaDeTexto 6"/>
          <p:cNvSpPr/>
          <p:nvPr/>
        </p:nvSpPr>
        <p:spPr>
          <a:xfrm>
            <a:off x="4429080" y="303120"/>
            <a:ext cx="296856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 anchorCtr="1">
            <a:sp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Segoe UI Semibold"/>
                <a:ea typeface="Segoe UI Black"/>
              </a:rPr>
              <a:t>Imagens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pic>
        <p:nvPicPr>
          <p:cNvPr id="25" name="CaixaDeTexto 2"/>
          <p:cNvPicPr/>
          <p:nvPr/>
        </p:nvPicPr>
        <p:blipFill>
          <a:blip r:embed="rId2"/>
          <a:stretch/>
        </p:blipFill>
        <p:spPr>
          <a:xfrm>
            <a:off x="6308640" y="115920"/>
            <a:ext cx="4932360" cy="384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" name="CaixaDeTexto 4"/>
          <p:cNvSpPr/>
          <p:nvPr/>
        </p:nvSpPr>
        <p:spPr>
          <a:xfrm>
            <a:off x="6737400" y="384120"/>
            <a:ext cx="407664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 anchorCtr="1">
            <a:sp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Segoe UI Semibold"/>
              </a:rPr>
              <a:t>SPO - Marilia / Pres. Prudente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pic>
        <p:nvPicPr>
          <p:cNvPr id="27" name="Picture 7" descr="Br_Sport.png"/>
          <p:cNvPicPr/>
          <p:nvPr/>
        </p:nvPicPr>
        <p:blipFill>
          <a:blip r:embed="rId3"/>
          <a:stretch/>
        </p:blipFill>
        <p:spPr>
          <a:xfrm>
            <a:off x="1712880" y="42840"/>
            <a:ext cx="1971720" cy="80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" name="Retângulo 13"/>
          <p:cNvSpPr/>
          <p:nvPr/>
        </p:nvSpPr>
        <p:spPr>
          <a:xfrm>
            <a:off x="353880" y="1717560"/>
            <a:ext cx="3611520" cy="3338640"/>
          </a:xfrm>
          <a:prstGeom prst="rect">
            <a:avLst/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 anchorCtr="1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29" name="Retângulo 15"/>
          <p:cNvSpPr/>
          <p:nvPr/>
        </p:nvSpPr>
        <p:spPr>
          <a:xfrm>
            <a:off x="4273560" y="1717560"/>
            <a:ext cx="3610080" cy="3338640"/>
          </a:xfrm>
          <a:prstGeom prst="rect">
            <a:avLst/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 anchorCtr="1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30" name="Retângulo 17"/>
          <p:cNvSpPr/>
          <p:nvPr/>
        </p:nvSpPr>
        <p:spPr>
          <a:xfrm>
            <a:off x="8134200" y="1717560"/>
            <a:ext cx="3610080" cy="3338640"/>
          </a:xfrm>
          <a:prstGeom prst="rect">
            <a:avLst/>
          </a:pr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 anchorCtr="1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31" name="CaixaDeTexto 19"/>
          <p:cNvSpPr/>
          <p:nvPr/>
        </p:nvSpPr>
        <p:spPr>
          <a:xfrm>
            <a:off x="369720" y="5132520"/>
            <a:ext cx="3595680" cy="94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Cliente: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Cidade: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Pares: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32" name="CaixaDeTexto 21"/>
          <p:cNvSpPr/>
          <p:nvPr/>
        </p:nvSpPr>
        <p:spPr>
          <a:xfrm>
            <a:off x="4275000" y="5132520"/>
            <a:ext cx="3594240" cy="94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Cliente: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Cidade: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Pares: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33" name="CaixaDeTexto 23"/>
          <p:cNvSpPr/>
          <p:nvPr/>
        </p:nvSpPr>
        <p:spPr>
          <a:xfrm>
            <a:off x="8136000" y="5132520"/>
            <a:ext cx="3593880" cy="94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Cliente: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Cidade: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Pares: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</p:spTree>
  </p:cSld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LibreOffice/26.2.4.2$Windows_X86_64 LibreOffice_project/0229ac93fcf0d7cbc6376066c6f35021cef002dc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2026-06-23T10:34:16Z</dcterms:created>
  <dc:creator>Heloise Almeida Costa</dc:creator>
  <dc:description/>
  <dc:language>en-US</dc:language>
  <cp:lastModifiedBy>Heloise Almeida Costa</cp:lastModifiedBy>
  <dcterms:modified xsi:type="dcterms:W3CDTF">2026-06-24T13:19:18Z</dcterms:modified>
  <cp:revision>1</cp:revision>
  <dc:subject/>
  <dc:title/>
</cp:coreProperties>
</file>